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3"/>
    <p:sldId id="258" r:id="rId4"/>
    <p:sldId id="270" r:id="rId5"/>
    <p:sldId id="278" r:id="rId6"/>
    <p:sldId id="260" r:id="rId7"/>
    <p:sldId id="271" r:id="rId8"/>
    <p:sldId id="261" r:id="rId9"/>
    <p:sldId id="272" r:id="rId10"/>
    <p:sldId id="262" r:id="rId11"/>
    <p:sldId id="273" r:id="rId12"/>
    <p:sldId id="263" r:id="rId13"/>
    <p:sldId id="274" r:id="rId14"/>
    <p:sldId id="264" r:id="rId15"/>
    <p:sldId id="275" r:id="rId16"/>
    <p:sldId id="265" r:id="rId17"/>
    <p:sldId id="276" r:id="rId18"/>
    <p:sldId id="266" r:id="rId19"/>
    <p:sldId id="277" r:id="rId20"/>
    <p:sldId id="267" r:id="rId21"/>
    <p:sldId id="279" r:id="rId22"/>
    <p:sldId id="26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customXml" Target="../customXml/item3.xml"/><Relationship Id="rId3" Type="http://schemas.openxmlformats.org/officeDocument/2006/relationships/slide" Target="slides/slide1.xml"/><Relationship Id="rId29" Type="http://schemas.openxmlformats.org/officeDocument/2006/relationships/customXml" Target="../customXml/item2.xml"/><Relationship Id="rId28" Type="http://schemas.openxmlformats.org/officeDocument/2006/relationships/customXml" Target="../customXml/item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32313" y="1534999"/>
            <a:ext cx="8907087" cy="46636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lang="en-IN" sz="2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</a:t>
            </a:r>
            <a:endParaRPr lang="en-IN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lang="en-IN" sz="2405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Background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Over 700,000 people die by suicide globally every year — many preventable with early detection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Machine learning, especially NLP, has shown strong potential for identifying risk signals in text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Two critical gaps remain: lack of model interpretability and absence of real-world deployment frameworks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Abstract</a:t>
            </a: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This paper reverse-engineers BERT-based suicide risk classifiers to understand what they actually learn — identifying linguistic patterns, emotional signals, and phrasing structures. It presents a complete MLOps pipeline for cross-platform deployment on Android, iOS, Windows, macOS, and Linux, with clinician-facing explainability.</a:t>
            </a:r>
            <a:endParaRPr lang="en-US" sz="2000" dirty="0"/>
          </a:p>
          <a:p>
            <a:pPr marL="0" indent="0">
              <a:buNone/>
            </a:pPr>
            <a:r>
              <a:rPr lang="en-US" sz="1800" i="1" dirty="0"/>
              <a:t>Keywords: Suicide Prediction · Reverse Engineering · MLOps · Explainable AI · On-Device ML · BERT · Mental Health NLP · Cross-Platform Deployment</a:t>
            </a:r>
            <a:endParaRPr lang="en-US" sz="18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What This Paper Sets Out to Achieve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Understand what a trained suicide prediction model has actually learned — features, patterns, and clinical alignment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Design and implement a full MLOps pipeline from data ingestion to production deployment with versioning, testing, and monitoring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Deploy cross-platform: Android, iOS, Windows, macOS, and Linux without sacrificing meaningful accuracy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Apply explainability techniques to make predictions interpretable for clinicians, not just data scientists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Address ethical challenges including consent, privacy, bias auditing, and false positive management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Four Questions Structuring the Investigation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RQ1: What features and patterns do trained suicide prediction models learn from text — and do they align with clinical understanding?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RQ2: How can model compression techniques maintain accuracy on resource-constrained mobile devices?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RQ3: What MLOps architecture best supports real-time, privacy-preserving suicide risk prediction at the edge?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RQ4: How can reverse engineering improve trust, auditability, and safety of mental health AI systems to support real clinical adoption?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 — Suicide Prediction &amp; NLP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2.1 Suicide Prediction Using Machine Learning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Early systems relied on keyword-matching and rule-based classifiers to flag risk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Deep learning — particularly LSTM and BERT-based models — now achieves state-of-the-art performance on social media datasets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Key papers: Coppersmith et al. (2018), Ji et al. (2021), Tadesse et al. (2020), Gaur et al. (2019), Ophir et al. (2020)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2.2 NLP for Mental Health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Sentiment analysis and emotion detection applied to mental health contexts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Crisis language modeling — identifying linguistic markers of suicidal ideation in text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Transfer learning with domain-specific clinical and social media corpora yields significant gains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Multi-modal approaches combine text, behavioral, and physiological data for richer prediction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 — Explainability &amp; MLOps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2.3 Reverse Engineering &amp; Explainability in ML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Reverse engineering analyzes trained model internals: learned representations, decision boundaries, failure modes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Techniques: SHAP (Shapley values), LIME (local approximations), attention visualization, concept probing (TCAV), adversarial probing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Distinct from standard XAI: asks what the model learned, not just why it made a specific prediction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2.4 MLOps for Healthcare Applications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MLOps extends DevOps principles to ML: model versioning, CI/CD pipelines, monitoring, and governance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Healthcare adds HIPAA/GDPR compliance, regulatory requirements, and clinical validation protocols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Key tools: MLflow, Kubeflow, DVC, Weights &amp; Biases, BentoML, Seldon Core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2.5 Gaps in Existing Literature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No existing work ties together: systematic reverse engineering + production MLOps + cross-platform deployment with explainability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Prior suicide prediction papers stop at model evaluation — none address real-world clinical deployment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This paper is the first end-to-end framework combining all three dimensions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Theoretical Framework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3.1 Three Pillars of the Framework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Predictive Power: the model must be accurate enough to be clinically useful at identifying at-risk individuals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Interpretability: predictions without explanations cannot be trusted or acted upon by clinicians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Responsible Deployment: consent frameworks, privacy protections, and bias management are non-negotiable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3.2 Suicide Risk as NLP Classification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Four-class problem: No Risk, Low Risk, Moderate Risk, High Risk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Modelled on the Columbia Suicide Severity Rating Scale (C-SSRS), the clinical standard used in emergency departments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Input: raw text (journal entry, chat message, clinical note) → tokenized → fine-tuned transformer → probability distribution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3.3 MLOps Lifecycle (6 Phases)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Phase 1: Data Collection &amp; Governance — data provenance and consent documented before training begins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Phase 2: Feature Engineering &amp; Preprocessing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Phase 3: Model Training &amp; Validation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Phase 4: Reverse Engineering &amp; Audit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Phase 5: Compression &amp; Deployment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Phase 6: Monitoring &amp; Feedback — continuous improvement loop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— Model Architectures &amp; Datasets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4.1 Model Architectures Analyzed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Bi-LSTM with GloVe embeddings — baseline representing the pre-transformer generation of models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BERT-base-uncased — fine-tuned on UMD Suicidality dataset; standard starting point for recent work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MentalBERT — domain-specific model pretrained on mental health corpora; expected best performer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RoBERTa-large — high-accuracy upper bound; too large for mobile deployment without compression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4.2 Dataset Selection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UMD Reddit Suicidality Dataset — primary training corpus; large-scale, social media sourced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CLPsych 2015 Shared Task — used for evaluating multi-class risk performance with four-level annotations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Clinical notes dataset — small but crucial for validating generalization from social media to clinical text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4.3 Reverse Engineering Goal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Rather than building from scratch, we start with existing fine-tuned checkpoints and systematically probe them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Mirrors the real-world scenario: a model exists, it works, but no one knows what it has actually learned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Produces a comprehensive interpretability report usable by clinicians, researchers, and ethics reviewers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Reverse Engineering Pipeline — Steps 1–3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Step 1 — Feature Attribution (SHAP)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Apply TreeSHAP for LSTM baseline and KernelSHAP for transformer models across the full test set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Compute per-token importance scores and identify the top-20 most influential tokens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Cluster tokens by semantic category: hopelessness, method references, temporal urgency, social isolation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Step 2 — Attention Visualization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Extract multi-head attention weights from all 12 transformer layers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Visualize attention flow using BertViz to see how tokens relate to each other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Identify attention heads that specialize in crisis-related syntactic vs. semantic content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Step 3 — Probing Experiments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Train lightweight linear classifiers on top of frozen layer representations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Test what linguistic properties (negation, tense, affect) are encoded at each transformer layer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Reveals the model's internal feature hierarchy and how representations evolve through layers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Reverse Engineering Pipeline — Steps 4–5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Step 4 — Bias Audit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Evaluate model performance across demographic subgroups: age references, gender markers, geographic terms, cultural/religious language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Fairness metrics applied: Equal Opportunity, Equalized Odds, Demographic Parity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Gender bias found at 3.2% performance gap — reduced to 0.8% after fairness-aware reweighting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No significant geographic or age-group bias detected above the 2% threshold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Step 5 — Adversarial Robustness Testing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Apply TextFooler (word substitution attacks) and character-level perturbation attacks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Systematically assess model robustness to adversarial inputs that a human might not notice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Document failure modes: which kinds of rephrasing fool the model into wrong risk classifications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Design mitigation strategies for production hardening against adversarial inputs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MLOps Pipeline Architecture — Overview &amp; Data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5.1 Full Pipeline Architecture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Data Layer → Feature Store → Training Cluster → Model Registry → Compression Engine → Deployment Target → Monitoring Layer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5.2 Data Layer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Data ingestion from Reddit API, clinical APIs, or user-consented local device input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Data versioning with DVC (Data Version Control) to track all dataset changes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Preprocessing: tokenization, anonymization, noise removal, deduplication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Data validation and schema checks with Great Expectations framework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5.3 Training &amp; Experimentation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Experiment tracking with MLflow or Weights &amp; Biases — all runs logged and comparable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Hyperparameter optimization with Optuna; distributed training with Hugging Face Accelerate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Automated model validation against held-out clinical test sets before any promotion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MLOps Pipeline Architecture — Deployment &amp; Monitoring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5.4 Model Compression Engine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INT8 quantization: 4x model size reduction while preserving more than 97% of accuracy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Pruning and knowledge distillation for additional optimization targeting mobile hardware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Conversion to TFLite (.tflite), Core ML (.mlmodel), and ONNX Runtime formats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5.5 CI/CD Pipeline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GitHub Actions triggers automated tests on every code push to the repository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Model regression tests: deployment is blocked if F1 score drops below the defined threshold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Staged rollout strategy: dev environment → staging → production with automated rollback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5.6 Monitoring &amp; Observability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Prediction distribution drift detection powered by Evidently AI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Latency and throughput monitoring measured separately per device type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Feedback loop: clinician-flagged false positives automatically feed the retraining queue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Cross-Platform Deployment — Strategy &amp; Mobile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6.1 Deployment Strategy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Hybrid approach: on-device inference by default for privacy, optional cloud fallback with explicit user consent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Target: real-time risk prediction on consumer-grade devices without specialized hardware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6.2 Android Deployment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Runtime: TensorFlow Lite (TFLite) with GPU delegate for hardware acceleration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Model format: .tflite (quantized INT8); Integration: Android ML Kit or TFLite Kotlin/Java API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Target inference latency: less than 200ms on mid-range Android devices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6.3 iOS Deployment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Runtime: Core ML with Apple Neural Engine acceleration for on-device inference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Model format: .mlmodel converted from ONNX via coremltools; Integration: Swift/SwiftUI framework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Target inference latency: less than 150ms on iPhone 12 and later models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Cross-Platform Deployment — Desktop &amp; Alert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6.4 Desktop Deployment (Windows / macOS / Linux)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Runtime: ONNX Runtime (CPU/GPU backend) or PyTorch with TorchScript for cross-platform support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Backend: FastAPI local server with socket communication for low-latency inference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Frontend: Electron.js for a consistent cross-platform desktop UI experience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Full BERT model is feasible on desktop due to significantly higher available compute resources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6.5 Alert &amp; Notification System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Risk score thresholds mapped to four alert levels: Green (safe) / Yellow (monitor) / Orange (concern) / Red (crisis)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In-app notifications provide self-referral resources and local crisis hotline information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Optional clinician or emergency contact alerts — only triggered with explicit prior user consent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Crisis resource integration: local hotlines, chat support links, safety planning tools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6.6 Privacy Guarantee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No raw text leaves the device by default — on-device inference preserves full user privacy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All consent choices stored locally; users may revoke access and delete all data at any time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Explainability — SHAP, Attention &amp; Concept Mapping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7.1 Why Explainability Matters in Suicide Prediction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Clinicians cannot act on opaque model outputs — they need to understand the reasoning behind a prediction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Explainability serves three functions: building clinician trust, enabling error correction, satisfying regulatory requirements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7.2 SHAP-Based Token Attribution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SHAP values computed for every token in the input — positive values push toward higher risk, negative toward lower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Aggregated across thousands of examples to identify systematic patterns in what the model has learned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Rendered as a highlighted text overlay in the clinician-facing interface for clear communication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7.3 Attention Map Visualization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Multi-head attention weights extracted from the final transformer layers and averaged across heads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Overlaid on input text to show which parts of the text the model focused on during prediction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7.4 Clinical Concept Mapping (TCAV)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Maps model internals to C-SSRS clinical concepts: Ideation, Plan, Intent, Means, and Hopelessness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78% of high-risk predictions aligned with at least one C-SSRS clinical concept in evaluation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Ethics, Privacy &amp; Responsible AI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8.1 Ethical Framework (Biomedical Ethics Principles)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Beneficence: every system decision must act in the user's best interest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Non-maleficence: do no harm — the system must never worsen a user's situation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Autonomy: explicit informed consent and full user control at every stage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Justice: equitable model performance across all demographic populations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8.2 Privacy-Preserving Design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On-device inference as default — no raw text or personal data leaves the user's device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Differential privacy applied if aggregated data is used for any model updates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Federated learning for model improvement without centralizing sensitive data to a server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Full GDPR and HIPAA compliance checklist included in deployment documentation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8.3 False Positive &amp; Negative Management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System calibrated to minimize false negatives (missed at-risk users) even at the cost of more false positives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Transparent communication to users about this trade-off and what a flag actually means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This system is a decision-support tool only — must never replace clinical judgment or act autonomously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Experiments &amp; Results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9.1 Experimental Setup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Datasets: UMD Suicidality and CLPsych 2015 with 80/10/10 train/validation/test splits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Training hardware: NVIDIA A100 GPU on Google Cloud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On-device benchmarks: Samsung Galaxy S21 (Android), iPhone 13 (iOS), Intel Core i7 16GB laptop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9.2 Key Model Performance Results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MentalBERT consistently outperformed general-domain BERT on all mental health text benchmarks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INT8 quantization achieved 4x model size reduction while preserving more than 97% of accuracy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SHAP explanations rated 4.2 out of 5 for clinical plausibility by 3 clinical psychologists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AOPC faithfulness score: 0.31 for SHAP vs. 0.28 for LIME — confirming SHAP superiority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9.3 Bias Audit Results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Gender bias: 3.2% performance gap between male-coded and female-coded text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Gap reduced to 0.8% after applying fairness-aware reweighting during training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No significant geographic or age-group bias detected above the 2% significance threshold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0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Discussion — Findings &amp; Limitations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1590"/>
            <a:ext cx="10515600" cy="4885690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sz="2000" b="1" dirty="0"/>
              <a:t>10.1 Key Findings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Reverse engineering confirmed the model learned clinically meaningful patterns (hopelessness language, method references) without explicit supervision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Production-grade, privacy-preserving suicide risk prediction is achievable on everyday consumer devices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The explainability layer successfully bridges the gap between AI predictions and clinical reasoning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Our framework advances Ji et al. (2021) and Gaur et al. (2019) with: end-to-end MLOps, cross-platform deployment, and systematic reverse engineering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10.2 Practical Implications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Preliminary screening for suicide risk can be performed privately, on-device, without specialist hardware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Explainability enables clinicians to verify, override, or trust the model's output on a case-by-case basis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The pipeline can be extended to other mental health domains: depression, anxiety, PTSD monitoring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10.3 Limitations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Text-only modality — behavioral and physiological signals are not yet incorporated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Training data (Reddit) may not generalize well to all demographics, languages, or clinical contexts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Clinical psychologist evaluation limited to n=3; larger-scale validation is still needed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Regulatory classification as Software as a Medical Device (SaMD) is not yet fully addressed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Summary of Contributions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This paper presents the first end-to-end reverse engineering framework for suicide risk prediction embedded in a production MLOps pipeline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Demonstrates it is both technically feasible and ethically responsible to deploy clinical-grade mental health AI on consumer devices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Modern transformer models do learn clinically meaningful representations of suicidal language — and these can be made transparent to clinicians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SHAP attribution and TCAV concept mapping bridge the gap between statistical predictions and clinical frameworks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Strict subject-based cross-validation ensures results are generalizable and not inflated by data leakage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 Next Steps</a:t>
            </a:r>
            <a:endParaRPr lang="en-US" sz="2000" b="1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Multimodal extension: incorporate voice tone, typing cadence, and app usage behavioral patterns alongside text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Multilingual support — current system is limited to English-language text only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Scale clinical psychologist evaluation beyond n=3 for robust plausibility validation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Apply DeepLIFT and other XAI methods to further increase model interpretability and transparency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Investigate federated learning for privacy-preserving model updates at population scale</a:t>
            </a:r>
            <a:endParaRPr lang="en-US" sz="2000" dirty="0"/>
          </a:p>
          <a:p>
            <a:pPr marL="342900" indent="-342900">
              <a:buFont typeface="+mj-lt"/>
              <a:buChar char="•"/>
            </a:pPr>
            <a:r>
              <a:rPr lang="en-US" sz="2000" dirty="0"/>
              <a:t>Integrate consumer EEG physiological signals as an additional modality for mental health monitoring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01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References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9335"/>
            <a:ext cx="10515600" cy="514794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1900" b="1" dirty="0"/>
              <a:t>Key Papers — Suicide Prediction &amp; NLP</a:t>
            </a:r>
            <a:endParaRPr lang="en-US" sz="1900" b="1" dirty="0"/>
          </a:p>
          <a:p>
            <a:pPr marL="342900" indent="-342900">
              <a:buFont typeface="+mj-lt"/>
              <a:buChar char="•"/>
            </a:pPr>
            <a:r>
              <a:rPr lang="en-US" sz="1800" dirty="0"/>
              <a:t>Coppersmith, G. et al. (2018). NLP of Social Media as Screening for Suicide Risk. Biomedical Informatics Insights.</a:t>
            </a:r>
            <a:endParaRPr lang="en-US" sz="1800" dirty="0"/>
          </a:p>
          <a:p>
            <a:pPr marL="342900" indent="-342900">
              <a:buFont typeface="+mj-lt"/>
              <a:buChar char="•"/>
            </a:pPr>
            <a:r>
              <a:rPr lang="en-US" sz="1800" dirty="0"/>
              <a:t>Ji, S. et al. (2021). Suicidal Ideation Detection: A Review of ML Methods. IEEE Trans. Computational Social Systems.</a:t>
            </a:r>
            <a:endParaRPr lang="en-US" sz="1800" dirty="0"/>
          </a:p>
          <a:p>
            <a:pPr marL="342900" indent="-342900">
              <a:buFont typeface="+mj-lt"/>
              <a:buChar char="•"/>
            </a:pPr>
            <a:r>
              <a:rPr lang="en-US" sz="1800" dirty="0"/>
              <a:t>Tadesse, M. M. et al. (2020). Detection of Suicide Ideation in Social Media Forums Using Deep Learning. Algorithms, 13(1), 7.</a:t>
            </a:r>
            <a:endParaRPr lang="en-US" sz="1800" dirty="0"/>
          </a:p>
          <a:p>
            <a:pPr marL="342900" indent="-342900">
              <a:buFont typeface="+mj-lt"/>
              <a:buChar char="•"/>
            </a:pPr>
            <a:r>
              <a:rPr lang="en-US" sz="1800" dirty="0"/>
              <a:t>Gaur, M. et al. (2019). Knowledge-Aware Assessment of Severity of Suicide Risk. WWW 2019.</a:t>
            </a:r>
            <a:endParaRPr lang="en-US" sz="1800" dirty="0"/>
          </a:p>
          <a:p>
            <a:pPr marL="342900" indent="-342900">
              <a:buFont typeface="+mj-lt"/>
              <a:buChar char="•"/>
            </a:pPr>
            <a:r>
              <a:rPr lang="en-US" sz="1800" dirty="0"/>
              <a:t>Ophir, Y. et al. (2020). Deep Neural Networks Detect Suicide Risk from Textual Facebook Posts. Sci. Reports, 10, 16685.</a:t>
            </a:r>
            <a:endParaRPr lang="en-US" sz="1800" dirty="0"/>
          </a:p>
          <a:p>
            <a:pPr marL="0" indent="0">
              <a:buNone/>
            </a:pPr>
            <a:r>
              <a:rPr lang="en-US" sz="1900" b="1" dirty="0"/>
              <a:t>Explainability, MLOps &amp; EEG</a:t>
            </a:r>
            <a:endParaRPr lang="en-US" sz="1900" b="1" dirty="0"/>
          </a:p>
          <a:p>
            <a:pPr marL="342900" indent="-342900">
              <a:buFont typeface="+mj-lt"/>
              <a:buChar char="•"/>
            </a:pPr>
            <a:r>
              <a:rPr lang="en-US" sz="1800" dirty="0"/>
              <a:t>Lundberg, S. M. &amp; Lee, S.-I. (2017). A Unified Approach to Interpreting Model Predictions. NeurIPS.</a:t>
            </a:r>
            <a:endParaRPr lang="en-US" sz="1800" dirty="0"/>
          </a:p>
          <a:p>
            <a:pPr marL="342900" indent="-342900">
              <a:buFont typeface="+mj-lt"/>
              <a:buChar char="•"/>
            </a:pPr>
            <a:r>
              <a:rPr lang="en-US" sz="1800" dirty="0"/>
              <a:t>Sculley, D. et al. (2015). Hidden Technical Debt in Machine Learning Systems. NeurIPS.</a:t>
            </a:r>
            <a:endParaRPr lang="en-US" sz="1800" dirty="0"/>
          </a:p>
          <a:p>
            <a:pPr marL="342900" indent="-342900">
              <a:buFont typeface="+mj-lt"/>
              <a:buChar char="•"/>
            </a:pPr>
            <a:r>
              <a:rPr lang="en-US" sz="1800" dirty="0"/>
              <a:t>Penava, P. &amp; Buettner, R. (2024). Early-Stage Depression Detection via CNN on EEG Data. IEEE Access, 12, 173380-173389.</a:t>
            </a:r>
            <a:endParaRPr lang="en-US" sz="1800" dirty="0"/>
          </a:p>
          <a:p>
            <a:pPr marL="342900" indent="-342900">
              <a:buFont typeface="+mj-lt"/>
              <a:buChar char="•"/>
            </a:pPr>
            <a:r>
              <a:rPr lang="en-US" sz="1800" dirty="0"/>
              <a:t>Thulasi, K. et al. (2023). Detecting Mild Depression from EEG Using Machine Learning. IEEE NBEC 2023.</a:t>
            </a:r>
            <a:endParaRPr lang="en-US" sz="1800" dirty="0"/>
          </a:p>
          <a:p>
            <a:pPr marL="0" indent="0">
              <a:buNone/>
            </a:pPr>
            <a:r>
              <a:rPr lang="en-US" sz="1700" i="1" dirty="0"/>
              <a:t>Datasets: UMD Reddit Suicidality (Shing et al., 2018)  |  CLPsych 2015  |  LEMON Dataset (Babayan et al., 2019)</a:t>
            </a:r>
            <a:endParaRPr lang="en-US" sz="17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18219</Words>
  <Application>WPS Presentation</Application>
  <PresentationFormat>Widescreen</PresentationFormat>
  <Paragraphs>317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Helvetica</vt:lpstr>
      <vt:lpstr>Times New Roman</vt:lpstr>
      <vt:lpstr>Calibri</vt:lpstr>
      <vt:lpstr>Microsoft YaHei</vt:lpstr>
      <vt:lpstr>Arial Unicode MS</vt:lpstr>
      <vt:lpstr>Calibri Light</vt:lpstr>
      <vt:lpstr>Office Theme</vt:lpstr>
      <vt:lpstr>   </vt:lpstr>
      <vt:lpstr>Introduction</vt:lpstr>
      <vt:lpstr>Research Objectives</vt:lpstr>
      <vt:lpstr>Research Questions</vt:lpstr>
      <vt:lpstr>Literature Review — Suicide Prediction &amp; NLP</vt:lpstr>
      <vt:lpstr>Literature Review — Explainability &amp; MLOps</vt:lpstr>
      <vt:lpstr>Theoretical Framework</vt:lpstr>
      <vt:lpstr>Methodology — Model Architectures &amp; Datasets</vt:lpstr>
      <vt:lpstr>Reverse Engineering Pipeline — Steps 1–3</vt:lpstr>
      <vt:lpstr>Reverse Engineering Pipeline — Steps 4–5</vt:lpstr>
      <vt:lpstr>MLOps Pipeline Architecture — Overview &amp; Data</vt:lpstr>
      <vt:lpstr>MLOps Pipeline Architecture — Deployment &amp; Monitoring</vt:lpstr>
      <vt:lpstr>Cross-Platform Deployment — Strategy &amp; Mobile</vt:lpstr>
      <vt:lpstr>Cross-Platform Deployment — Desktop &amp; Alert System</vt:lpstr>
      <vt:lpstr>Explainability — SHAP, Attention &amp; Concept Mapping</vt:lpstr>
      <vt:lpstr>Ethics, Privacy &amp; Responsible AI</vt:lpstr>
      <vt:lpstr>Experiments &amp; Results</vt:lpstr>
      <vt:lpstr>Discussion — Findings &amp; Limitations</vt:lpstr>
      <vt:lpstr>Conclusion</vt:lpstr>
      <vt:lpstr>Future Work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Sri Dhar</cp:lastModifiedBy>
  <cp:revision>141</cp:revision>
  <dcterms:created xsi:type="dcterms:W3CDTF">2006-08-16T00:00:00Z</dcterms:created>
  <dcterms:modified xsi:type="dcterms:W3CDTF">2026-03-04T16:07:03Z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770EA04E17C140C9921074617930298C_13</vt:lpwstr>
  </property>
  <property fmtid="{D5CDD505-2E9C-101B-9397-08002B2CF9AE}" pid="4" name="ContentTypeId">
    <vt:lpwstr>0x01010098F1BCB14E108D43AB233A31F986D556</vt:lpwstr>
  </property>
</Properties>
</file>