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3"/>
    <p:sldId id="258" r:id="rId4"/>
    <p:sldId id="269" r:id="rId5"/>
    <p:sldId id="260" r:id="rId6"/>
    <p:sldId id="270" r:id="rId7"/>
    <p:sldId id="261" r:id="rId8"/>
    <p:sldId id="271" r:id="rId9"/>
    <p:sldId id="262" r:id="rId10"/>
    <p:sldId id="272" r:id="rId11"/>
    <p:sldId id="263" r:id="rId12"/>
    <p:sldId id="273" r:id="rId13"/>
    <p:sldId id="264" r:id="rId14"/>
    <p:sldId id="274" r:id="rId15"/>
    <p:sldId id="265" r:id="rId16"/>
    <p:sldId id="266" r:id="rId17"/>
    <p:sldId id="27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  <a:endParaRPr lang="en-IN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lang="en-IN" sz="2405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 b="1" i="1" dirty="0">
                <a:sym typeface="+mn-ea"/>
              </a:rPr>
              <a:t>Research Questions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sz="2400" dirty="0">
                <a:sym typeface="+mn-ea"/>
              </a:rPr>
              <a:t>RQ1: What features and patterns do trained suicide prediction models learn from text — and do they align with clinical understanding?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RQ2: How much can these models be compressed before mobile performance degrades unacceptably?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RQ3: What MLOps architecture best supports real-time, privacy-preserving risk prediction at the edge?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RQ4: Can reverse engineering improve transparency and auditability of mental health AI to support real clinical adoption?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ym typeface="+mn-ea"/>
              </a:rPr>
              <a:t>Keywords: Suicide Prediction · Reverse Engineering · MLOps · Explainable AI · On-Device ML · BERT · Mental Health NLP · Cross-Platform Deployment</a:t>
            </a:r>
            <a:endParaRPr lang="en-US" sz="2400" i="1" dirty="0"/>
          </a:p>
          <a:p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965"/>
          </a:xfrm>
        </p:spPr>
        <p:txBody>
          <a:bodyPr/>
          <a:lstStyle/>
          <a:p>
            <a:r>
              <a:rPr lang="en-US" sz="3200" b="1" i="1" dirty="0"/>
              <a:t>Literature Review &amp; Related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2235"/>
            <a:ext cx="10515600" cy="4053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</a:t>
            </a:r>
            <a:r>
              <a:rPr lang="en-US" sz="1800" b="1" dirty="0"/>
              <a:t>Suicide Prediction Using Machine Learning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600" dirty="0"/>
              <a:t>Early systems used keyword-matching and rule-based classifiers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Deep learning (LSTM, BERT) now achieves state-of-the-art performance on social media datasets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Key papers: Coppersmith et al. (2018), Ji et al. (2021), Tadesse et al. (2020), Gaur et al. (2019), Ophir et al. (2020)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/>
              <a:t>NLP for Mental Health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600" dirty="0"/>
              <a:t>Sentiment analysis and emotion detection in mental health contexts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Crisis language modeling — linguistic markers of suicidal ideation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Transfer learning with clinical and social media corpora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Multi-modal approaches combining text, behavioral, and physiological data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203835"/>
          </a:xfrm>
        </p:spPr>
        <p:txBody>
          <a:bodyPr>
            <a:noAutofit/>
          </a:bodyPr>
          <a:p>
            <a:r>
              <a:rPr lang="en-US" sz="3200" b="1" i="1" dirty="0">
                <a:sym typeface="+mn-ea"/>
              </a:rPr>
              <a:t>Literature Review &amp; Related Work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9495"/>
            <a:ext cx="10515600" cy="513778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Reverse Engineering &amp; Explainability in ML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Analyzes trained model internals: learned representations, decision boundaries, and failure modes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Techniques: SHAP, LIME, attention mechanism analysis, concept probing (TCAV), adversarial probing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Distinct from standard XAI: asks what the model learned, not just why it made a prediction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MLOps for Healthcare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Encompasses model versioning, CI/CD, monitoring, and governance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Healthcare adds HIPAA/GDPR compliance and clinical validation requirements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Key tools: MLflow, Kubeflow, DVC, Weights &amp; Biases, BentoML, Seldon Core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Gaps in Existing Literature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No existing work ties together: reverse engineering + production MLOps + cross-platform deployment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Prior suicide prediction papers stop at model evaluation — none address real-world deployment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This paper fills all three gaps simultaneously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865"/>
          </a:xfrm>
        </p:spPr>
        <p:txBody>
          <a:bodyPr/>
          <a:lstStyle/>
          <a:p>
            <a:r>
              <a:rPr lang="en-US" sz="3200" b="1" i="1" dirty="0"/>
              <a:t>Theoretical Framework &amp; Methodology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560"/>
            <a:ext cx="10515600" cy="487172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 b="1" dirty="0"/>
              <a:t> Three Pillars of the Framework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Predictive Power: model must be accurate enough to be clinically useful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Interpretability: predictions without explanations cannot be trusted or acted upon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Responsible Deployment: consent, privacy, and bias management are non-negotiable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Suicide Risk as NLP Classification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Four-class problem: No Risk, Low Risk, Moderate Risk, High Risk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Modelled on Columbia Suicide Severity Rating Scale (C-SSRS)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Input: raw text (journal entry, chat, clinical note) → fine-tuned transformer → probability distribution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MLOps Lifecycle (6 Phases)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Phase 1: Data Collection &amp; Governance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2: Feature Engineering &amp; Preprocessing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3: Model Training &amp; Validation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4: Reverse Engineering &amp; Audit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5: Compression &amp; Deployment</a:t>
            </a:r>
            <a:endParaRPr lang="en-US" sz="18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p>
            <a:r>
              <a:rPr lang="en-US" sz="3200" b="1" i="1" dirty="0">
                <a:sym typeface="+mn-ea"/>
              </a:rPr>
              <a:t>Theoretical Framework &amp; Methodology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0020"/>
            <a:ext cx="10515600" cy="474726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Model Architectures Analyzed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Bi-LSTM with GloVe embeddings (baseline)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BERT-base-uncased fine-tuned on UMD Suicidality dataset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MentalBERT — domain-specific pretrained on mental health corpora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RoBERTa-large — high-accuracy upper bound benchmark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MLOps Lifecycle (6 Phases)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1: Data Collection &amp; Governance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2: Feature Engineering &amp; Preprocessing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3: Model Training &amp; Validation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4: Reverse Engineering &amp; Audit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Phase 5: Compression &amp; Deployment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5051425" cy="768985"/>
          </a:xfrm>
        </p:spPr>
        <p:txBody>
          <a:bodyPr/>
          <a:lstStyle/>
          <a:p>
            <a:r>
              <a:rPr lang="en-US" sz="3200" b="1" i="1" dirty="0"/>
              <a:t>Reverse Engineering Pipeline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5122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Step 1 — Feature Attribution (SHAP)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Apply TreeSHAP (LSTM) and KernelSHAP (transformers) for per-token importance scores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top-20 most influential tokens across the test set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Cluster by semantic category: hopelessness, method references, temporal urgency, social isolation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2 — Attention Visualization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Extract multi-head attention weights from all 12 transformer layers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Visualize attention flow using BertViz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Identify attention heads specializing in crisis-related syntactic vs. semantic content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Step 3 — Probing Experiments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Train lightweight linear classifiers on top of frozen layer representations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Test what linguistic properties (negation, tense, affect) are encoded at each layer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Reveals the model's internal feature hierarchy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5535295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Reverse Engineering Pipeline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Step 4 — Bias Audit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Evaluate performance across subgroups: age, gender markers, geographic terms, religious language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Fairness metrics: Equal Opportunity, Equalized Odds, Demographic Parity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Gender bias reduced from 3.2% to 0.8% after fairness-aware reweighting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Step 5 — Adversarial Robustness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Apply TextFooler and character-level perturbation attacks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Assess model robustness and document failure modes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Design mitigation strategies for production hardening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sz="3200" b="1" i="1" dirty="0"/>
              <a:t>MLOps Pipeline Architecture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2000" b="1" dirty="0"/>
              <a:t>Pipeline Overview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Layer → Feature Store → Training Cluster → Model Registry → Compression Engine → Deployment Target → Monitoring Layer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Data Layer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ingestion from Reddit API, clinical APIs, or user-consented local input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versioning with DVC; preprocessing: tokenization, anonymization, noise removal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validation with Great Expectations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Training &amp; Experimentation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Experiment tracking with MLflow or Weights &amp; Biases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Hyperparameter optimization with Optuna; distributed training with Hugging Face Accelerate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/>
          <a:p>
            <a:r>
              <a:rPr lang="en-US" sz="3200" b="1" i="1" dirty="0">
                <a:sym typeface="+mn-ea"/>
              </a:rPr>
              <a:t>MLOps Pipeline Architecture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0305"/>
            <a:ext cx="10515600" cy="5006975"/>
          </a:xfrm>
        </p:spPr>
        <p:txBody>
          <a:bodyPr>
            <a:normAutofit fontScale="3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</a:t>
            </a:r>
            <a:r>
              <a:rPr lang="en-US" sz="5300" b="1" dirty="0">
                <a:sym typeface="+mn-ea"/>
              </a:rPr>
              <a:t>Model Compression Engine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INT8 quantization: 4x size reduction, preserves &gt;97% accuracy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Pruning and knowledge distillation for further mobile optimization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Conversion to TFLite (.tflite), Core ML (.mlmodel), and ONNX formats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pPr marL="0" indent="0">
              <a:buNone/>
            </a:pPr>
            <a:r>
              <a:rPr lang="en-US" sz="5300" b="1" dirty="0">
                <a:sym typeface="+mn-ea"/>
              </a:rPr>
              <a:t> CI/CD Pipeline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GitHub Actions for automated testing on every code push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Model regression tests: no deployment if F1 drops below threshold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Staged rollout: dev → staging → production with automated rollback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pPr marL="0" indent="0">
              <a:buNone/>
            </a:pPr>
            <a:r>
              <a:rPr lang="en-US" sz="5300" b="1" dirty="0">
                <a:sym typeface="+mn-ea"/>
              </a:rPr>
              <a:t>Monitoring &amp; Observability</a:t>
            </a:r>
            <a:endParaRPr lang="en-US" sz="5300" b="1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Prediction distribution drift detection with Evidently AI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Latency and throughput monitoring per device type</a:t>
            </a:r>
            <a:endParaRPr lang="en-US" sz="5300" dirty="0"/>
          </a:p>
          <a:p>
            <a:pPr marL="228600" indent="-228600">
              <a:buChar char="•"/>
            </a:pPr>
            <a:r>
              <a:rPr lang="en-US" sz="5300" dirty="0">
                <a:sym typeface="+mn-ea"/>
              </a:rPr>
              <a:t>Clinician-flagged false positives feed the retraining queue</a:t>
            </a:r>
            <a:endParaRPr lang="en-US" sz="5300" dirty="0"/>
          </a:p>
          <a:p>
            <a:pPr marL="0" indent="0">
              <a:buNone/>
            </a:pPr>
            <a:endParaRPr lang="en-US" sz="5300" dirty="0"/>
          </a:p>
          <a:p>
            <a:endParaRPr lang="en-US" sz="5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Cross-Platform Deployment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/>
              <a:t>6.1 Deployment Strategy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Hybrid approach: on-device inference by default for privacy, optional cloud fallback with user consent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Target: real-time risk prediction on consumer-grade devices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6.2 Android Deployment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Runtime: TensorFlow Lite (TFLite) with GPU delegate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Model format: .tflite (quantized INT8); Integration: Android ML Kit or TFLite Kotlin API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Target latency: &lt;200ms per inference on mid-range devices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6.3 iOS Deployment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Runtime: Core ML with Neural Engine acceleration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Model format: .mlmodel (converted via coremltools); Integration: Swift/SwiftUI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Target latency: &lt;150ms per inference on iPhone 12+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1345"/>
            <a:ext cx="10515600" cy="711200"/>
          </a:xfrm>
        </p:spPr>
        <p:txBody>
          <a:bodyPr/>
          <a:p>
            <a:r>
              <a:rPr lang="en-US" sz="3200" b="1" i="1" dirty="0">
                <a:sym typeface="+mn-ea"/>
              </a:rPr>
              <a:t>Cross-Platform Deployment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835"/>
            <a:ext cx="10515600" cy="4957445"/>
          </a:xfrm>
        </p:spPr>
        <p:txBody>
          <a:bodyPr>
            <a:normAutofit/>
          </a:bodyPr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 Desktop (Windows / macOS / Linux)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Runtime: ONNX Runtime (CPU/GPU) or PyTorch with TorchScript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Backend: FastAPI server; Frontend: Electron.js for cross-platform UI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Full BERT model feasible due to higher available compute on desktop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Alert &amp; Notification System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Risk thresholds mapped to alert levels: Green / Yellow / Orange / Red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In-app notifications for self-referral resources and crisis hotlines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Optional clinician/emergency contact alerts — only with explicit user consent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853440"/>
          </a:xfrm>
        </p:spPr>
        <p:txBody>
          <a:bodyPr/>
          <a:lstStyle/>
          <a:p>
            <a:r>
              <a:rPr lang="en-US" sz="3200" b="1" i="1" dirty="0"/>
              <a:t>Explainability &amp; Ethics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904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SHAP-Based Token Attribution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/>
              <a:t>SHAP values assign importance scores to every token in the input text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Positive values push prediction toward higher risk; negative values indicate protective language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Rendered as highlighted text overlay in the clinician-facing UI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/>
              <a:t>Clinical Concept Mapping (TCAV)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/>
              <a:t>Maps model internals to C-SSRS clinical concepts: Ideation, Plan, Intent, Means, Hopelessness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78% of high-risk predictions aligned with at least one C-SSRS clinical concept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Bridges statistical predictions and clinical frameworks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ym typeface="+mn-ea"/>
              </a:rPr>
              <a:t>Privacy-Preserving Design</a:t>
            </a:r>
            <a:endParaRPr lang="en-US" sz="1800" b="1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On-device inference as default — no raw text leaves the user's device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Differential privacy for any aggregated data used in model updates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Federated learning for model improvement without centralizing sensitive data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>
                <a:sym typeface="+mn-ea"/>
              </a:rPr>
              <a:t>Full GDPR / HIPAA compliance checklist included in deployment documentation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Experiments, Results &amp; Discussion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/>
              <a:t> Experimental Setup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Datasets: UMD Suicidality and CLPsych 2015 with 80/10/10 train/val/test splits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Training hardware: NVIDIA A100 GPU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On-device benchmarks: Samsung Galaxy S21 (Android), iPhone 13 (iOS), Intel Core i7 laptop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Key Model Results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MentalBERT consistently outperformed general-domain BERT on mental health text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INT8 quantization: 4x model size reduction while preserving &gt;97% of accuracy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SHAP explanations rated 4.2/5 for clinical plausibility by 3 clinical psychologists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/>
              <a:t> Bias Audit Results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300" dirty="0"/>
              <a:t>Gender bias: 3.2% performance gap reduced to 0.8% after fairness-aware reweighting</a:t>
            </a:r>
            <a:endParaRPr lang="en-US" sz="1300" dirty="0"/>
          </a:p>
          <a:p>
            <a:pPr marL="228600" indent="-228600">
              <a:buChar char="•"/>
            </a:pPr>
            <a:r>
              <a:rPr lang="en-US" sz="1300" dirty="0"/>
              <a:t>No significant geographic or age-group bias detected above 2% threshold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 i="1" dirty="0">
                <a:sym typeface="+mn-ea"/>
              </a:rPr>
              <a:t>Experiments, Results &amp; Discussion</a:t>
            </a:r>
            <a:endParaRPr lang="en-US" sz="36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Key Findings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Reverse engineering confirmed the model learned clinically meaningful patterns without explicit supervision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Production-grade, privacy-preserving suicide risk prediction is achievable on consumer devices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Explainability layer successfully bridges AI predictions and clinical reasoning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ym typeface="+mn-ea"/>
              </a:rPr>
              <a:t> Limitations</a:t>
            </a:r>
            <a:endParaRPr lang="en-US" b="1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Text-only modality — behavioral and physiological signals not yet incorporated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Reddit data may not generalize to all demographics or languages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Clinical psychologist evaluation limited to n=3; larger-scale validation needed</a:t>
            </a:r>
            <a:endParaRPr lang="en-US" dirty="0"/>
          </a:p>
          <a:p>
            <a:pPr marL="228600" indent="-228600">
              <a:buChar char="•"/>
            </a:pPr>
            <a:r>
              <a:rPr lang="en-US" dirty="0">
                <a:sym typeface="+mn-ea"/>
              </a:rPr>
              <a:t>Regulatory questions (SaMD classification) not fully addressed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Conclusion &amp; Future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105156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Conclusion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This paper presents a reverse engineering-driven approach to suicide risk prediction in a production MLOps pipeline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Demonstrates it is technically feasible and ethically responsible to deploy clinical-grade mental health AI on consumer devices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Modern transformer models do learn clinically meaningful representations of suicidal language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SHAP attribution and concept mapping make these representations transparent to clinicians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Strict subject-based cross-validation ensures results are generalizable and not inflated by data leakage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Future Work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Multimodal extension: incorporate voice tone, typing cadence, and app usage patterns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Multilingual support — current system limited to English-language text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Larger clinical psychologist evaluation (n=3 is a limitation; scaling needed)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Use mobile (consumer) EEG sensors for physiological signal integration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Apply DeepLIFT and other XAI methods to further increase model interpretability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Investigate federated learning for privacy-preserving model updates at scale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60"/>
          </a:xfrm>
        </p:spPr>
        <p:txBody>
          <a:bodyPr>
            <a:noAutofit/>
          </a:bodyPr>
          <a:lstStyle/>
          <a:p>
            <a:r>
              <a:rPr lang="en-US" sz="3200" b="1" i="1" dirty="0"/>
              <a:t>References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545"/>
            <a:ext cx="10515600" cy="511873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1600" b="1" dirty="0"/>
              <a:t>Key Papers — Suicide Prediction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Coppersmith, G. et al. (2018). Natural Language Processing of Social Media as Screening for Suicide Risk. Biomedical Informatics Insights.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Ji, S. et al. (2021). Suicidal Ideation Detection: A Review of Machine Learning Methods and Applications. IEEE Trans. Computational Social Systems.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Tadesse, M. M. et al. (2020). Detection of Suicide Ideation in Social Media Forums Using Deep Learning. Algorithms, 13(1), 7.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Gaur, M. et al. (2019). Knowledge-Aware Assessment of Severity of Suicide Risk for Early Intervention. WWW 2019.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Ophir, Y. et al. (2020). Deep Neural Networks Detect Suicide Risk from Textual Facebook Posts. Scientific Reports, 10, 16685.\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Explainability &amp; MLOps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Lundberg, S. M. &amp; Lee, S.-I. (2017). A Unified Approach to Interpreting Model Predictions. NeurIPS.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Ribeiro, M. T. et al. (2016). "Why Should I Trust You?": Explaining the Predictions of Any Classifier. KDD 2016.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Sculley, D. et al. (2015). Hidden Technical Debt in Machine Learning Systems. NeurIPS.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/>
              <a:t>Related EEG &amp; Depression Detection</a:t>
            </a:r>
            <a:endParaRPr lang="en-US" sz="1600" b="1" dirty="0"/>
          </a:p>
          <a:p>
            <a:pPr marL="228600" indent="-228600">
              <a:buChar char="•"/>
            </a:pPr>
            <a:r>
              <a:rPr lang="en-US" sz="1400" dirty="0"/>
              <a:t>Penava, P. &amp; Buettner, R. (2024). Early-Stage Non-Severe Depression Detection Using a Novel CNN Approach Based on Resting-State EEG Data. IEEE Access, 12, 173380–173389.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Wu, C.-T. et al. (2021). Resting-State EEG Signal for Major Depressive Disorder Detection. Biosensors, 11(12), 499–524.</a:t>
            </a:r>
            <a:endParaRPr lang="en-US" sz="1400" dirty="0"/>
          </a:p>
          <a:p>
            <a:pPr marL="228600" indent="-228600">
              <a:buChar char="•"/>
            </a:pPr>
            <a:r>
              <a:rPr lang="en-US" sz="1400" dirty="0"/>
              <a:t>Thulasi, K. et al. (2023). Detecting Mild Depression from EEG Signal in a Non-Clinical Environment Using Machine Learning. IEEE NBEC 2023.</a:t>
            </a:r>
            <a:endParaRPr lang="en-US" sz="1400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r>
              <a:rPr lang="en-US" sz="1400" i="1" dirty="0"/>
              <a:t>Datasets: UMD Reddit Suicidality (Shing et al., 2018) | CLPsych 2015 Shared Task | LEMON (Babayan et al., 2019)</a:t>
            </a:r>
            <a:endParaRPr lang="en-US" sz="1400" i="1" dirty="0"/>
          </a:p>
        </p:txBody>
      </p:sp>
      <p:sp>
        <p:nvSpPr>
          <p:cNvPr id="4" name="Text Box 3"/>
          <p:cNvSpPr txBox="1"/>
          <p:nvPr/>
        </p:nvSpPr>
        <p:spPr>
          <a:xfrm>
            <a:off x="3521710" y="667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12762</Words>
  <Application>WPS Presentation</Application>
  <PresentationFormat>Widescreen</PresentationFormat>
  <Paragraphs>291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Research Questions</vt:lpstr>
      <vt:lpstr>Literature Review &amp; Related Work</vt:lpstr>
      <vt:lpstr>Literature Review &amp; Related Work</vt:lpstr>
      <vt:lpstr>Theoretical Framework &amp; Methodology</vt:lpstr>
      <vt:lpstr>Theoretical Framework &amp; Methodology</vt:lpstr>
      <vt:lpstr>Reverse Engineering Pipeline</vt:lpstr>
      <vt:lpstr>    Reverse Engineering Pipeline</vt:lpstr>
      <vt:lpstr>MLOps Pipeline Architecture</vt:lpstr>
      <vt:lpstr>MLOps Pipeline Architecture</vt:lpstr>
      <vt:lpstr>Cross-Platform Deployment</vt:lpstr>
      <vt:lpstr>Cross-Platform Deployment</vt:lpstr>
      <vt:lpstr>Explainability &amp; Ethics</vt:lpstr>
      <vt:lpstr>Experiments, Results &amp; Discussion</vt:lpstr>
      <vt:lpstr>Experiments, Results &amp; Discussion</vt:lpstr>
      <vt:lpstr>Conclusion &amp; Future Work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 Dhar</cp:lastModifiedBy>
  <cp:revision>146</cp:revision>
  <dcterms:created xsi:type="dcterms:W3CDTF">2006-08-16T00:00:00Z</dcterms:created>
  <dcterms:modified xsi:type="dcterms:W3CDTF">2026-03-05T15:05:28Z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D4E09BA592484959B3332ADB603D561F_13</vt:lpwstr>
  </property>
  <property fmtid="{D5CDD505-2E9C-101B-9397-08002B2CF9AE}" pid="4" name="ContentTypeId">
    <vt:lpwstr>0x01010098F1BCB14E108D43AB233A31F986D556</vt:lpwstr>
  </property>
</Properties>
</file>